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89520" cy="86868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0"/>
            <a:ext cx="4599432" cy="274320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74320"/>
            <a:ext cx="640080" cy="594360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北京航空航天大学  ·  中国航空工业集团成都飞机设计研究所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740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挑战杯 · 揭榜挂帅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基于国产算力的无人机具身智能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实时感知与决策系统实现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题目编号 XH-202629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队伍：[待填]      汇报人：[待填]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指导老师：[待填]      团队顾问：[待填]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9944"/>
            <a:ext cx="4206240" cy="137160"/>
          </a:xfrm>
          <a:prstGeom prst="rect">
            <a:avLst/>
          </a:prstGeom>
          <a:solidFill>
            <a:srgbClr val="C000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246120" y="1371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76672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127248" y="2331720"/>
            <a:ext cx="640080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" name="Text 6"/>
          <p:cNvSpPr/>
          <p:nvPr/>
        </p:nvSpPr>
        <p:spPr>
          <a:xfrm>
            <a:off x="3127248" y="26060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一、应用背景与任务目标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27248" y="3227832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二、总体方案与技术路线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27248" y="3849624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三、仿真实验验证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127248" y="4471416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四、实机实验验证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27248" y="509320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五、应用创新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27248" y="571500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六、总结与展望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4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应用背景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GNSS 拒止下无人机“失明失聪”，叠加国外算力依赖 —— 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三重驱动，亟待破局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440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5440680" cy="50292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002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核心痛点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31520" y="2221992"/>
            <a:ext cx="498348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城市峡谷、茂密森林、室内等自然地形遮挡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安防管控、复杂电磁对抗等人工拒止场景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GNSS 衰减或失效 → 定位定姿与路径跟踪能力骤降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仅靠机载传感器自主探索，是“卡脖子”难题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440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00200"/>
            <a:ext cx="5440680" cy="502920"/>
          </a:xfrm>
          <a:prstGeom prst="rect">
            <a:avLst/>
          </a:prstGeom>
          <a:solidFill>
            <a:srgbClr val="FDEBE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6002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04A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战略需求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92240" y="2221992"/>
            <a:ext cx="498348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高性能算法长期依赖国外算力芯片与软件框架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存在供应链断裂与信息安全风险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推动感知决策算法与国产硬件平台深度融合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构建自主可控的“具身智能飞行器”系统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5074920"/>
            <a:ext cx="11183112" cy="96012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507492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从“依赖卫星”走向“自主感知”，从“国外算力”走向“国产平台”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9" name="Text 17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应用背景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系统技术分解为 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 / 探索 / 决策三条技术链路</a:t>
            </a:r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，相互衔接、循环推进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410712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093976"/>
            <a:ext cx="3264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感知链路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551176"/>
            <a:ext cx="322783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状态估计与环境建图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Swarm-LIO 系列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输出位姿 + 配准点云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2930652"/>
            <a:ext cx="347472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1965960"/>
            <a:ext cx="3410712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2093976"/>
            <a:ext cx="3264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探索链路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551176"/>
            <a:ext cx="322783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搜索路径规划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RACER 层次规划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frontier → 视点 → 轨迹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2930652"/>
            <a:ext cx="347472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965960"/>
            <a:ext cx="3410712" cy="2148840"/>
          </a:xfrm>
          <a:prstGeom prst="roundRect">
            <a:avLst/>
          </a:prstGeom>
          <a:solidFill>
            <a:srgbClr val="024178"/>
          </a:solidFill>
          <a:ln w="15875">
            <a:solidFill>
              <a:srgbClr val="0241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2093976"/>
            <a:ext cx="3264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决策链路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551176"/>
            <a:ext cx="322783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多机协同与故障恢复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掉线释放—接管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 丢包四层保障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11183112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50017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三条链路通过共享的环境表示与任务状态相互衔接，构成完整的自主作业闭环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22" name="Text 20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核心指标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四项核心技术指标 —— 本团队所有工作严格围绕以下指标展开，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逐项闭环验证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55574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2555748" cy="82296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8013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63040" y="1856232"/>
            <a:ext cx="14584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定位与建图精度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" y="2560320"/>
            <a:ext cx="215341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室内 ATE ≤ 0.3 m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室外 ATE ≤ 0.5 m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地图分辨率 ≥ 5 cm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8708" y="1600200"/>
            <a:ext cx="255574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78708" y="1600200"/>
            <a:ext cx="2555748" cy="82296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4" name="Text 12"/>
          <p:cNvSpPr/>
          <p:nvPr/>
        </p:nvSpPr>
        <p:spPr>
          <a:xfrm>
            <a:off x="3543300" y="18013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38828" y="1856232"/>
            <a:ext cx="14584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实时性与鲁棒性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79876" y="2560320"/>
            <a:ext cx="215341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定位建图 ≥ 10 Hz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丢包 ≤ 20% 任务不中断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支持多机协同定位建图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54496" y="1600200"/>
            <a:ext cx="255574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600200"/>
            <a:ext cx="2555748" cy="82296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18013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214616" y="1856232"/>
            <a:ext cx="14584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自主决策能力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55664" y="2560320"/>
            <a:ext cx="215341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在线重规划 ≤ 2 s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应对突发障碍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应对子系统失效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30284" y="1600200"/>
            <a:ext cx="255574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30284" y="1600200"/>
            <a:ext cx="2555748" cy="82296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24" name="Text 22"/>
          <p:cNvSpPr/>
          <p:nvPr/>
        </p:nvSpPr>
        <p:spPr>
          <a:xfrm>
            <a:off x="9294876" y="18013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090404" y="1856232"/>
            <a:ext cx="14584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平台约束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31452" y="2560320"/>
            <a:ext cx="215341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计算平台 ≤ 30 W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可部署微小型平台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国产自主可控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5532120"/>
            <a:ext cx="11183112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573328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所有指标逐项闭环验证，未完成项以占位符标明待补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31" name="Text 29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 任务目标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围绕赛题三项核心技术任务，形成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可运行、可验证、可审计</a:t>
            </a:r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的完整系统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410712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56816"/>
            <a:ext cx="3264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高鲁棒性自主感知与定位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414016"/>
            <a:ext cx="32278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无先验地图下，仅靠机载激光与惯性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实现实时状态估计与建图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2679192"/>
            <a:ext cx="347472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1828800"/>
            <a:ext cx="3410712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1956816"/>
            <a:ext cx="3264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自主建图与探索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414016"/>
            <a:ext cx="32278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多机去中心化协同探索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避免重复覆盖与探测盲区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2679192"/>
            <a:ext cx="347472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828800"/>
            <a:ext cx="3410712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1956816"/>
            <a:ext cx="3264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自适应决策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414016"/>
            <a:ext cx="32278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节点失联、通信丢包扰动下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维持任务连续，具备在线重规划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11183112" cy="1600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系统工作方式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754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每架无人机维持本地估计与规划；在线节点之间协商任务归属；发生状态缺失时进行任务协调。三条链路在国产算力平台上集成为一个可运行、可验证、可审计的系统。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23" name="Text 21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246120" y="1371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76672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127248" y="2331720"/>
            <a:ext cx="640080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" name="Text 6"/>
          <p:cNvSpPr/>
          <p:nvPr/>
        </p:nvSpPr>
        <p:spPr>
          <a:xfrm>
            <a:off x="3127248" y="26060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一、应用背景与任务目标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27248" y="3227832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二、总体方案与技术路线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27248" y="3849624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三、仿真实验验证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127248" y="4471416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四、实机实验验证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27248" y="509320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五、应用创新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27248" y="571500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六、总结与展望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4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2.1 系统总体架构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“观测 → 状态估计 → 环境表示 → 任务选择 → 轨迹执行 → 状态反馈”</a:t>
            </a:r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逐机处理链，叠加跨机协同</a:t>
            </a:r>
            <a:endParaRPr lang="en-US" sz="1750" dirty="0"/>
          </a:p>
        </p:txBody>
      </p:sp>
      <p:pic>
        <p:nvPicPr>
          <p:cNvPr id="7" name="Image 0" descr="C:/Users/shang/Desktop/swarmlio-multi-paper/docs/20260907_competition_submission/figures/v2/fig01_system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27632"/>
            <a:ext cx="754380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75320" y="1627632"/>
            <a:ext cx="341071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75320" y="1627632"/>
            <a:ext cx="3410712" cy="45720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10" name="Text 7"/>
          <p:cNvSpPr/>
          <p:nvPr/>
        </p:nvSpPr>
        <p:spPr>
          <a:xfrm>
            <a:off x="8421624" y="162763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架构要点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458200" y="2194560"/>
            <a:ext cx="3044952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六阶段处理链单机闭环运行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叠加跨机协同：队友状态、任务认领、地图信息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归入感知 / 探索 / 决策三条技术链路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外部参考的角色须显式披露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3" name="Shape 10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4" name="Text 11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2.2 硬件平台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Khadas 机载节点 + 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Mid-360 激光雷达</a:t>
            </a:r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+ IMU + PX4 飞控执行链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300984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2821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传感器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185416"/>
            <a:ext cx="31181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Mid-360 激光雷达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IMU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67912" y="2176272"/>
            <a:ext cx="512064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1" name="Shape 9"/>
          <p:cNvSpPr/>
          <p:nvPr/>
        </p:nvSpPr>
        <p:spPr>
          <a:xfrm>
            <a:off x="4443984" y="1600200"/>
            <a:ext cx="3300984" cy="1371600"/>
          </a:xfrm>
          <a:prstGeom prst="roundRect">
            <a:avLst/>
          </a:prstGeom>
          <a:solidFill>
            <a:srgbClr val="024178"/>
          </a:solidFill>
          <a:ln w="15875">
            <a:solidFill>
              <a:srgbClr val="0241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72821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机载计算节点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35424" y="2185416"/>
            <a:ext cx="31181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Khadas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感知与规划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08976" y="2176272"/>
            <a:ext cx="512064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85048" y="1600200"/>
            <a:ext cx="3300984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72821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飞控执行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76488" y="2185416"/>
            <a:ext cx="31181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PX4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轨迹执行与状态回传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46120"/>
          <a:ext cx="6583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部件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用途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机载计算节点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Khadas 节点承担感知与规划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LiDAR / IMU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提供几何与惯性观测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飞控 / 参考系统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接收轨迹、提供执行状态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452360" y="3246120"/>
            <a:ext cx="423367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52360" y="3246120"/>
            <a:ext cx="4233672" cy="45720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21" name="Text 18"/>
          <p:cNvSpPr/>
          <p:nvPr/>
        </p:nvSpPr>
        <p:spPr>
          <a:xfrm>
            <a:off x="7598664" y="3246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选型与国产化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7635240" y="3813048"/>
            <a:ext cx="386791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11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时间同步 → 点云去畸变与估计精度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11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内存算力 → 建图规划在线完成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11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通信稳定 → 轨迹指令可靠执行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11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已在国产边缘平台完成单机部署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11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全国产化溯源证明待补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24" name="Shape 21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25" name="Text 22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2.3 软件与算法框架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以成熟开源方法为基础集成，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各组件职责分工明确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11183112" cy="960120"/>
          </a:xfrm>
          <a:prstGeom prst="rect">
            <a:avLst/>
          </a:prstGeom>
          <a:solidFill>
            <a:srgbClr val="024178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6002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154680" y="1600200"/>
            <a:ext cx="8348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探索与任务分配 —— RACER：frontier 提取、任务分配、轨迹规划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11183112" cy="960120"/>
          </a:xfrm>
          <a:prstGeom prst="rect">
            <a:avLst/>
          </a:prstGeom>
          <a:solidFill>
            <a:srgbClr val="5B9BD5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6517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感知层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154680" y="2651760"/>
            <a:ext cx="8348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状态估计 —— Swarm-LIO：位姿与配准点云输出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11183112" cy="960120"/>
          </a:xfrm>
          <a:prstGeom prst="rect">
            <a:avLst/>
          </a:prstGeom>
          <a:solidFill>
            <a:srgbClr val="DEEB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7033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通信层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154680" y="3703320"/>
            <a:ext cx="8348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模块间通信与时间契约 —— ROS：统一时间基准交换消息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754880"/>
            <a:ext cx="11183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47548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154680" y="4754880"/>
            <a:ext cx="8348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底层飞控执行 —— PX4 / MAVROS：轨迹转为姿态与推力指令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5623560"/>
            <a:ext cx="11183112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8247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分层设计使感知、探索、执行可独立替换与验证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23" name="Text 21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2.4 感知链路 · swarm-lio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IMU 预测 + 点到平面残差校正；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机间相互观测约束相对关系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单机估计：预测 → 校正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773936"/>
            <a:ext cx="5317236" cy="10607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901952"/>
            <a:ext cx="51709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预测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359152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IMU 高频积分传播状态 → 得到当前位姿的先验估计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84164" y="2194560"/>
            <a:ext cx="420624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2" name="Shape 10"/>
          <p:cNvSpPr/>
          <p:nvPr/>
        </p:nvSpPr>
        <p:spPr>
          <a:xfrm>
            <a:off x="6368796" y="1773936"/>
            <a:ext cx="5317236" cy="1060704"/>
          </a:xfrm>
          <a:prstGeom prst="roundRect">
            <a:avLst/>
          </a:prstGeom>
          <a:solidFill>
            <a:srgbClr val="024178"/>
          </a:solidFill>
          <a:ln w="15875">
            <a:solidFill>
              <a:srgbClr val="0241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1948" y="1901952"/>
            <a:ext cx="51709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校正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0236" y="2359152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当前帧点云与局部地图配准 → 点到平面残差 r = nᵀ(Rp + t − q) 修正先验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0540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协同观测结构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338328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493008"/>
            <a:ext cx="3383280" cy="402336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930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UAV i（本机）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" y="3968496"/>
            <a:ext cx="3054096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本机 LiDAR + IMU 观测</a:t>
            </a:r>
            <a:endParaRPr lang="en-US" sz="1250" dirty="0"/>
          </a:p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局部状态估计：位姿 + 配准点云</a:t>
            </a:r>
            <a:endParaRPr lang="en-US" sz="1250" dirty="0"/>
          </a:p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维护局部地图，不依赖中心节点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02752" y="3493008"/>
            <a:ext cx="338328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3493008"/>
            <a:ext cx="3383280" cy="402336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22" name="Text 20"/>
          <p:cNvSpPr/>
          <p:nvPr/>
        </p:nvSpPr>
        <p:spPr>
          <a:xfrm>
            <a:off x="8439912" y="34930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UAV j（邻机）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67344" y="3968496"/>
            <a:ext cx="3054096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本机 LiDAR + IMU 观测</a:t>
            </a:r>
            <a:endParaRPr lang="en-US" sz="1250" dirty="0"/>
          </a:p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局部状态估计：位姿 + 配准点云</a:t>
            </a:r>
            <a:endParaRPr lang="en-US" sz="1250" dirty="0"/>
          </a:p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维护局部地图，不依赖中心节点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041648" y="4059936"/>
            <a:ext cx="4114800" cy="310896"/>
          </a:xfrm>
          <a:prstGeom prst="leftRightArrow">
            <a:avLst/>
          </a:prstGeom>
          <a:solidFill>
            <a:srgbClr val="F37402"/>
          </a:solidFill>
          <a:ln/>
        </p:spPr>
      </p:sp>
      <p:sp>
        <p:nvSpPr>
          <p:cNvPr id="25" name="Text 23"/>
          <p:cNvSpPr/>
          <p:nvPr/>
        </p:nvSpPr>
        <p:spPr>
          <a:xfrm>
            <a:off x="4407408" y="3621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3740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机间相互观测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224528" y="44256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约束相对关系 · 共享视野时抑制漂移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5157216"/>
            <a:ext cx="11183112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157216"/>
            <a:ext cx="10725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Swarm-LIO 在机间共享视野时以相互观测约束相对关系；Swarm-LIO2 进一步处理去中心化初始化、状态传播与计算效率，并通过状态管理与边缘化在有限算力下维持可用估计。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31" name="Text 29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2.5 探索链路 · RACER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RACER 以层次网格与成对优化组织去中心化探索；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本文考察两种分配目标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RACER 算法逻辑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2507742" cy="16642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956816"/>
            <a:ext cx="2361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层次网格组织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414016"/>
            <a:ext cx="232486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粗分辨率定位未探索 frontier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细分辨率细化候选视点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74670" y="2551176"/>
            <a:ext cx="256032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2" name="Shape 10"/>
          <p:cNvSpPr/>
          <p:nvPr/>
        </p:nvSpPr>
        <p:spPr>
          <a:xfrm>
            <a:off x="3394710" y="1828800"/>
            <a:ext cx="2507742" cy="16642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7862" y="1956816"/>
            <a:ext cx="2361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局部任务协商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86150" y="2414016"/>
            <a:ext cx="232486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多节点成对优化 pair-opt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按目标函数分配 frontier 任务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66460" y="2551176"/>
            <a:ext cx="256032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500" y="1828800"/>
            <a:ext cx="2507742" cy="16642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9652" y="1956816"/>
            <a:ext cx="2361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视点选择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77940" y="2414016"/>
            <a:ext cx="232486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从任务对应的 frontier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选取信息增益最大的视点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58250" y="2551176"/>
            <a:ext cx="256032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20" name="Shape 18"/>
          <p:cNvSpPr/>
          <p:nvPr/>
        </p:nvSpPr>
        <p:spPr>
          <a:xfrm>
            <a:off x="9178290" y="1828800"/>
            <a:ext cx="2507742" cy="1664208"/>
          </a:xfrm>
          <a:prstGeom prst="roundRect">
            <a:avLst/>
          </a:prstGeom>
          <a:solidFill>
            <a:srgbClr val="024178"/>
          </a:solidFill>
          <a:ln w="15875">
            <a:solidFill>
              <a:srgbClr val="0241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1442" y="1956816"/>
            <a:ext cx="2361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轨迹生成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69730" y="2414016"/>
            <a:ext cx="232486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生成满足动力学与安全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约束的可行轨迹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本文对照的两种分配目标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02920" y="4114800"/>
            <a:ext cx="5440680" cy="530352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MINSUM：最小化总分配代价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245352" y="4114800"/>
            <a:ext cx="5440680" cy="530352"/>
          </a:xfrm>
          <a:prstGeom prst="rect">
            <a:avLst/>
          </a:prstGeom>
          <a:solidFill>
            <a:srgbClr val="0241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MINMAX：最小化最重节点分配代价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02920" y="4681728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压低总路径长度，倾向整体效率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45352" y="4681728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平衡各机负载，避免单节点成为瓶颈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02920" y="5349240"/>
            <a:ext cx="11183112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55504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容量系数约束单机任务容量（比较 0.75 与 0.50）；两种目标的对照结果详见 3.1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32" name="Text 30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2.6 决策链路 · 弹性决策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掉线“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 → 释放 → 接管</a:t>
            </a:r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”闭环 + 20% 丢包四层保障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2507742" cy="9692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36192"/>
            <a:ext cx="2361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993392"/>
            <a:ext cx="23248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s 心跳 + 连续两次超时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74670" y="1783080"/>
            <a:ext cx="256032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1" name="Shape 9"/>
          <p:cNvSpPr/>
          <p:nvPr/>
        </p:nvSpPr>
        <p:spPr>
          <a:xfrm>
            <a:off x="3394710" y="1408176"/>
            <a:ext cx="2507742" cy="9692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7862" y="1536192"/>
            <a:ext cx="2361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释放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86150" y="1993392"/>
            <a:ext cx="23248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释放全部未探索网格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66460" y="1783080"/>
            <a:ext cx="256032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6286500" y="1408176"/>
            <a:ext cx="2507742" cy="9692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536192"/>
            <a:ext cx="2361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77940" y="1993392"/>
            <a:ext cx="23248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最近在线机按质心接管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58250" y="1783080"/>
            <a:ext cx="256032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9" name="Shape 17"/>
          <p:cNvSpPr/>
          <p:nvPr/>
        </p:nvSpPr>
        <p:spPr>
          <a:xfrm>
            <a:off x="9178290" y="1408176"/>
            <a:ext cx="2507742" cy="969264"/>
          </a:xfrm>
          <a:prstGeom prst="roundRect">
            <a:avLst/>
          </a:prstGeom>
          <a:solidFill>
            <a:srgbClr val="024178"/>
          </a:solidFill>
          <a:ln w="15875">
            <a:solidFill>
              <a:srgbClr val="0241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51442" y="1536192"/>
            <a:ext cx="2361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继续探索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69730" y="1993392"/>
            <a:ext cx="23248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空闲机立即重规划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651760"/>
            <a:ext cx="690372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651760"/>
            <a:ext cx="6903720" cy="420624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265176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协议握手时序（pair-opt 成对协商）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1143000" y="3200400"/>
            <a:ext cx="1554480" cy="347472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3200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发起方 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92040" y="3200400"/>
            <a:ext cx="1554480" cy="347472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200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接收方 B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920240" y="3547872"/>
            <a:ext cx="0" cy="1481328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669280" y="3547872"/>
            <a:ext cx="0" cy="1481328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920240" y="3877056"/>
            <a:ext cx="3749040" cy="0"/>
          </a:xfrm>
          <a:prstGeom prst="line">
            <a:avLst/>
          </a:prstGeom>
          <a:noFill/>
          <a:ln w="19050">
            <a:solidFill>
              <a:srgbClr val="02417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05740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PROPOSE（编号 T1）· 发送即生效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920240" y="4315968"/>
            <a:ext cx="3749040" cy="0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057400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9B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REPLY 确认 · 重复编号幂等重答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920240" y="4754880"/>
            <a:ext cx="3749040" cy="0"/>
          </a:xfrm>
          <a:prstGeom prst="line">
            <a:avLst/>
          </a:prstGeom>
          <a:noFill/>
          <a:ln w="19050">
            <a:solidFill>
              <a:srgbClr val="F37402"/>
            </a:solidFill>
            <a:prstDash val="dash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2057400" y="4443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740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未确认：每 0.2 s 重发同一编号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58368" y="5029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明确拒绝 → 回滚至提案前分工　|　等待超时 1.5 s → 保留乐观归属，交心跳层兜底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589520" y="2651760"/>
            <a:ext cx="4096512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2651760"/>
            <a:ext cx="4096512" cy="420624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0" name="Text 38"/>
          <p:cNvSpPr/>
          <p:nvPr/>
        </p:nvSpPr>
        <p:spPr>
          <a:xfrm>
            <a:off x="7744968" y="265176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 丢包四层保障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7744968" y="31821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740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层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549640" y="3182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发送即生效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744968" y="3447288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双方发出方案即执行，确认丢失不产生分歧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44968" y="3767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740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层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549640" y="3767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重发 + 幂等重答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744968" y="4032504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0.2 s 重发同一编号，重复编号重答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44968" y="43525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740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层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549640" y="4352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Hz 心跳自愈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744968" y="461772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冲突按编号小者保留，未认领网格自动重分配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44968" y="4937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740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层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549640" y="4937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异常回滚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7744968" y="520293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明确拒绝回滚，超时由心跳兜底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54" name="Shape 52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55" name="Text 53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246120" y="1371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76672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127248" y="2331720"/>
            <a:ext cx="640080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" name="Text 6"/>
          <p:cNvSpPr/>
          <p:nvPr/>
        </p:nvSpPr>
        <p:spPr>
          <a:xfrm>
            <a:off x="3127248" y="26060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一、应用背景与任务目标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27248" y="3227832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二、总体方案与技术路线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27248" y="3849624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三、仿真实验验证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127248" y="4471416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四、实机实验验证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27248" y="509320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五、应用创新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27248" y="571500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六、总结与展望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4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 三机矩阵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+ 3 轮矩阵实验：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MINMAX + 容量 0.75 为最合理配置</a:t>
            </a:r>
            <a:endParaRPr lang="en-US" sz="1750" dirty="0"/>
          </a:p>
        </p:txBody>
      </p:sp>
      <p:pic>
        <p:nvPicPr>
          <p:cNvPr id="7" name="Image 0" descr="C:/Users/shang/Desktop/swarmlio-multi-paper/docs/20260907_competition_submission/figures/v2/fig03_minmax_minsu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27632"/>
            <a:ext cx="640080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627632"/>
            <a:ext cx="455371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0" y="1627632"/>
            <a:ext cx="4553712" cy="45720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10" name="Text 7"/>
          <p:cNvSpPr/>
          <p:nvPr/>
        </p:nvSpPr>
        <p:spPr>
          <a:xfrm>
            <a:off x="7278624" y="1627632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315200" y="2194560"/>
            <a:ext cx="4187952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无掉线：MINMAX 失衡比 1.43 优于 MINSUM 2.41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代价：总路径更长（796 m vs 557 m）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容量收紧至 0.50，失衡比反升至 2.11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C1 三次重复：失衡比 1.10，指标稳定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3" name="Shape 10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4" name="Text 11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 掉线 + 20% 丢包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四层保障下 20% 丢包覆盖率保持 0% 基线的 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97.6%</a:t>
            </a:r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，核心任务不中断</a:t>
            </a:r>
            <a:endParaRPr lang="en-US" sz="1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6355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2194560"/>
                <a:gridCol w="960120"/>
                <a:gridCol w="7772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轮次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丢包率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掉线接管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覆盖率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32（回归）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释放 22 格 / 接管 22 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0.673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20%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释放 26 格 / 接管 21 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0.657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36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566160"/>
            <a:ext cx="6355080" cy="2514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749040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关键观察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4206240"/>
            <a:ext cx="5806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 丢包轮累计丢弃 2600+ 条消息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掉线检测与接管未受影响（接管 21 个有效网格）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冲突自愈 36 次，全部方向正确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全程无崩溃，无永久性重复覆盖或任务遗漏</a:t>
            </a:r>
            <a:endParaRPr lang="en-US" sz="1300" dirty="0"/>
          </a:p>
        </p:txBody>
      </p:sp>
      <p:pic>
        <p:nvPicPr>
          <p:cNvPr id="11" name="Image 0" descr="C:/Users/shang/Desktop/swarmlio-multi-paper/20260822_193001/pjw_grid/cover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1783080"/>
            <a:ext cx="2286000" cy="2286000"/>
          </a:xfrm>
          <a:prstGeom prst="rect">
            <a:avLst/>
          </a:prstGeom>
        </p:spPr>
      </p:pic>
      <p:pic>
        <p:nvPicPr>
          <p:cNvPr id="12" name="Image 1" descr="C:/Users/shang/Desktop/swarmlio-multi-paper/20260822_194351/pjw_grid/cover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55480" y="1783080"/>
            <a:ext cx="2286000" cy="2286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32 轮 0% 丢包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55548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33 轮 20% 丢包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178040" y="4709160"/>
            <a:ext cx="4663440" cy="137160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1"/>
          <p:cNvSpPr/>
          <p:nvPr/>
        </p:nvSpPr>
        <p:spPr>
          <a:xfrm>
            <a:off x="7360920" y="4846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 丢包下核心任务不中断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360920" y="5349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EEB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覆盖率 0.657 ≈ 基线 0.673 的 97.6%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9" name="Shape 14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20" name="Text 15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 室内三机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室内三机仿真：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完成率与覆盖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206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4206240" cy="45720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场景与测量口径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场地：室内标准场地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规模：3 架 UAV 同步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指标：任务完成率、覆盖率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真值：室内定位系统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937760" y="1600200"/>
            <a:ext cx="6748272" cy="44805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303520" y="27889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待补：室内三机完成率与覆盖（比例）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6A6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数据补齐后填入结果图与指标，版式骨架不变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4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 六机规模扩展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室内六机仿真：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规模扩展结果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206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4206240" cy="45720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场景与测量口径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场地：室内标准场地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规模：6 架 UAV 同步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指标：完成率、耗时、通信开销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对照：与三机结果同口径比较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937760" y="1600200"/>
            <a:ext cx="6748272" cy="44805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303520" y="27889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待补：六机规模扩展结果（比例与耗时）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6A6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数据补齐后填入结果图与指标，版式骨架不变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4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3.5 十机规模扩展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室内十机仿真：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规模扩展结果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206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4206240" cy="45720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场景与测量口径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场地：室内标准场地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规模：10 架 UAV 同步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指标：完成率、耗时、可扩展性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对照：协商开销随规模的变化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937760" y="1600200"/>
            <a:ext cx="6748272" cy="44805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303520" y="27889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待补：十机规模扩展结果（比例与耗时）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6A6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数据补齐后填入结果图与指标，版式骨架不变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4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3.6 室外 AirSim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室外 AirSim：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闭环覆盖与安全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206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4206240" cy="45720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场景与测量口径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平台：AirSim 闭环仿真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场景：室外复杂环境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指标：覆盖率、安全事件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价值：跨仿真器一致性验证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937760" y="1600200"/>
            <a:ext cx="6748272" cy="44805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303520" y="27889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待补：AirSim 闭环覆盖与安全（比例与次数）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6A6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数据补齐后填入结果图与指标，版式骨架不变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4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246120" y="1371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76672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127248" y="2331720"/>
            <a:ext cx="640080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" name="Text 6"/>
          <p:cNvSpPr/>
          <p:nvPr/>
        </p:nvSpPr>
        <p:spPr>
          <a:xfrm>
            <a:off x="3127248" y="26060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一、应用背景与任务目标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27248" y="3227832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二、总体方案与技术路线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27248" y="3849624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三、仿真实验验证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127248" y="4471416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四、实机实验验证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27248" y="509320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五、应用创新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27248" y="571500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六、总结与展望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4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单机实机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真实硬件单机闭环跑通：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轨迹 + 5 cm 二维 PGM</a:t>
            </a:r>
            <a:endParaRPr lang="en-US" sz="1750" dirty="0"/>
          </a:p>
        </p:txBody>
      </p:sp>
      <p:pic>
        <p:nvPicPr>
          <p:cNvPr id="7" name="Image 0" descr="C:/Users/shang/Desktop/swarmlio-multi-paper/docs/20260907_competition_submission/figures/v2/fig05_single_real_ma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27632"/>
            <a:ext cx="676656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0" y="1627632"/>
            <a:ext cx="418795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0" y="1627632"/>
            <a:ext cx="4187952" cy="45720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10" name="Text 7"/>
          <p:cNvSpPr/>
          <p:nvPr/>
        </p:nvSpPr>
        <p:spPr>
          <a:xfrm>
            <a:off x="7644384" y="1627632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节点级 baseline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680960" y="2194560"/>
            <a:ext cx="3822192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完成“感知→建图→规划→执行”单机闭环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R1 / R3 保存轨迹与二维栅格地图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R3 二维 PGM 栅格间距 0.05 m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验证部署链路与数据接口可用性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3" name="Shape 10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4" name="Text 11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4.2 三机实机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三机协同实机：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完成率与安全结果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206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4206240" cy="45720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场景与测量口径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场地：室内三机同步飞行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真值：室内定位系统统一基准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指标：协同完成率、安全事件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要求：同次同步记录 + 逐机/fleet 评价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937760" y="1600200"/>
            <a:ext cx="6748272" cy="44805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303520" y="27889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待补：三机协同完成率与安全结果（比例与次数）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6A6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数据补齐后填入结果图与指标，版式骨架不变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4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246120" y="1371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76672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127248" y="2331720"/>
            <a:ext cx="640080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" name="Text 6"/>
          <p:cNvSpPr/>
          <p:nvPr/>
        </p:nvSpPr>
        <p:spPr>
          <a:xfrm>
            <a:off x="3127248" y="26060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一、应用背景与任务目标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27248" y="3227832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二、总体方案与技术路线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27248" y="3849624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三、仿真实验验证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127248" y="4471416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四、实机实验验证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27248" y="509320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五、应用创新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27248" y="571500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六、总结与展望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4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5.1 单机探索机制创新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区分“仍可运动”与“仍有任务进展”，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三类轻量级恢复机制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3410712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55648"/>
            <a:ext cx="3264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防冻结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212848"/>
            <a:ext cx="32278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FSM 定时检查新 frontier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规划失败保留重试/回退路径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无新 frontier 时周期复查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2478024"/>
            <a:ext cx="347472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1627632"/>
            <a:ext cx="3410712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1755648"/>
            <a:ext cx="3264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改出徘徊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212848"/>
            <a:ext cx="32278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候选目标历史识别重复到访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重新评估候选视点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选择有信息增益的恢复方向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2478024"/>
            <a:ext cx="347472" cy="219456"/>
          </a:xfrm>
          <a:prstGeom prst="rightArrow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627632"/>
            <a:ext cx="3410712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1755648"/>
            <a:ext cx="3264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轨迹安全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212848"/>
            <a:ext cx="32278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候选轨迹经碰撞检查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通过安全约束后才执行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恢复动作不突破安全门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11183112" cy="1828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机制价值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553712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以状态机与 frontier 计时器为主，不引入额外重规划开销，适配边缘算力；三类机制的量化收益有待通过启用/禁用消融实验评估，相关指标见论文表 13。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23" name="Text 21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5.2 多机任务分配创新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MINMAX 目标系统化对照 + 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掉线接管耦合分析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440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5440680" cy="50292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002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目标取舍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31520" y="2221992"/>
            <a:ext cx="4983480" cy="2313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回答“求总成本最低 vs 求最慢节点最快”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MINSUM：总路径更短，单机负载差异大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MINMAX：负载更均衡，总路径更长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为分配目标选择提供条件明确的依据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440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00200"/>
            <a:ext cx="5440680" cy="502920"/>
          </a:xfrm>
          <a:prstGeom prst="rect">
            <a:avLst/>
          </a:prstGeom>
          <a:solidFill>
            <a:srgbClr val="FDEBE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6002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04A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掉线耦合观察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92240" y="2221992"/>
            <a:ext cx="4983480" cy="2313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静态均衡与故障接管存在耦合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退出节点短路径明显改变路径比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仅看整体均衡度会掩盖恢复效果</a:t>
            </a:r>
            <a:endParaRPr lang="en-US" sz="1400" dirty="0"/>
          </a:p>
          <a:p>
            <a:pPr marL="127000" indent="-127000">
              <a:lnSpc>
                <a:spcPct val="120000"/>
              </a:lnSpc>
              <a:spcAft>
                <a:spcPts val="1500"/>
              </a:spcAft>
              <a:buSzPct val="100000"/>
              <a:buChar char="▸"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宜另报仅在线节点的负载指标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937760"/>
            <a:ext cx="11183112" cy="77724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9377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贡献：目标函数、容量系数与掉线条件纳入系统化对照，建立可审计统计口径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9" name="Text 17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5.3 自适应决策创新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故障后任务归属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状态化、可定位化</a:t>
            </a:r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，逐事件可评估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989320" cy="566928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002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节点离线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651760" y="16002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释放与接管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258568"/>
            <a:ext cx="5989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58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消息丢失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651760" y="22585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重传与幂等重答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2916936"/>
            <a:ext cx="5989320" cy="566928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169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明确拒绝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51760" y="29169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回滚至提案前分工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3575304"/>
            <a:ext cx="5989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753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等待超时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651760" y="35753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保留乐观归属，心跳协调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766560" y="1600200"/>
            <a:ext cx="4919472" cy="3346704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810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740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验证结果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040880" y="2377440"/>
            <a:ext cx="4389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 任务层丢包覆盖率保持基线 97.6%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冲突自愈 36 次，全部方向正确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掉线检测零误报，全程无崩溃</a:t>
            </a:r>
            <a:endParaRPr lang="en-US" sz="1350" dirty="0"/>
          </a:p>
          <a:p>
            <a:pPr marL="127000" indent="-1270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仅覆盖任务话题，轨迹消息未注入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5212080"/>
            <a:ext cx="11183112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4132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四层机制保证任意丢包组合都不造成永久性重复覆盖或任务遗漏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25" name="Shape 23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26" name="Text 24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246120" y="1371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76672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127248" y="2331720"/>
            <a:ext cx="640080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" name="Text 6"/>
          <p:cNvSpPr/>
          <p:nvPr/>
        </p:nvSpPr>
        <p:spPr>
          <a:xfrm>
            <a:off x="3127248" y="26060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一、应用背景与任务目标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27248" y="3227832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二、总体方案与技术路线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27248" y="3849624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三、仿真实验验证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127248" y="4471416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四、实机实验验证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27248" y="509320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五、应用创新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27248" y="571500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六、总结与展望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6" name="Text 14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6.1 总结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四条技术指标逐项核对：</a:t>
            </a:r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协同与决策已仿真验证，单机实机已部署</a:t>
            </a:r>
            <a:endParaRPr lang="en-US" sz="17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53135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技术指标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当前状态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① 定位与建图精度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单机仿真报告 ATE 0.0802 m、二维 5 cm PGM 为正向证据；实机 ATE 待补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② 实时性与鲁棒性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20% 任务层丢包仿真已验证（覆盖率 97.6%）；≥10 Hz 待补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③ 自主决策能力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掉线释放—接管与 20% 丢包重传仿真已验证；≤2 s 待补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④ 平台约束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单机实机已部署运行；机载计算平台功耗待补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国产化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国产边缘节点已部署；全国产化证据链待补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5623560"/>
            <a:ext cx="11183112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58247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补测清单与测量接口已在论文表 16 完整列出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11" name="Shape 8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12" name="Text 9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3657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6.2 展望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向更大规模集群、更复杂环境与多领域应用推进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36118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3611880" cy="82296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" y="1764792"/>
            <a:ext cx="3355848" cy="11155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 rot="10800000">
            <a:off x="2221992" y="1943100"/>
            <a:ext cx="173736" cy="173736"/>
          </a:xfrm>
          <a:prstGeom prst="triangle">
            <a:avLst/>
          </a:prstGeom>
          <a:solidFill>
            <a:srgbClr val="024178"/>
          </a:solidFill>
          <a:ln/>
        </p:spPr>
      </p:sp>
      <p:sp>
        <p:nvSpPr>
          <p:cNvPr id="11" name="Shape 9"/>
          <p:cNvSpPr/>
          <p:nvPr/>
        </p:nvSpPr>
        <p:spPr>
          <a:xfrm rot="10800000">
            <a:off x="1947672" y="2217420"/>
            <a:ext cx="173736" cy="173736"/>
          </a:xfrm>
          <a:prstGeom prst="triangle">
            <a:avLst/>
          </a:prstGeom>
          <a:solidFill>
            <a:srgbClr val="024178"/>
          </a:solidFill>
          <a:ln/>
        </p:spPr>
      </p:sp>
      <p:sp>
        <p:nvSpPr>
          <p:cNvPr id="12" name="Shape 10"/>
          <p:cNvSpPr/>
          <p:nvPr/>
        </p:nvSpPr>
        <p:spPr>
          <a:xfrm rot="10800000">
            <a:off x="2496312" y="2217420"/>
            <a:ext cx="173736" cy="173736"/>
          </a:xfrm>
          <a:prstGeom prst="triangle">
            <a:avLst/>
          </a:prstGeom>
          <a:solidFill>
            <a:srgbClr val="024178"/>
          </a:solidFill>
          <a:ln/>
        </p:spPr>
      </p:sp>
      <p:sp>
        <p:nvSpPr>
          <p:cNvPr id="13" name="Shape 11"/>
          <p:cNvSpPr/>
          <p:nvPr/>
        </p:nvSpPr>
        <p:spPr>
          <a:xfrm rot="10800000">
            <a:off x="1673352" y="2510028"/>
            <a:ext cx="173736" cy="173736"/>
          </a:xfrm>
          <a:prstGeom prst="triangle">
            <a:avLst/>
          </a:prstGeom>
          <a:solidFill>
            <a:srgbClr val="024178"/>
          </a:solidFill>
          <a:ln/>
        </p:spPr>
      </p:sp>
      <p:sp>
        <p:nvSpPr>
          <p:cNvPr id="14" name="Shape 12"/>
          <p:cNvSpPr/>
          <p:nvPr/>
        </p:nvSpPr>
        <p:spPr>
          <a:xfrm rot="10800000">
            <a:off x="2221992" y="2510028"/>
            <a:ext cx="173736" cy="173736"/>
          </a:xfrm>
          <a:prstGeom prst="triangle">
            <a:avLst/>
          </a:prstGeom>
          <a:solidFill>
            <a:srgbClr val="024178"/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2770632" y="2510028"/>
            <a:ext cx="173736" cy="173736"/>
          </a:xfrm>
          <a:prstGeom prst="triangle">
            <a:avLst/>
          </a:prstGeom>
          <a:solidFill>
            <a:srgbClr val="024178"/>
          </a:solidFill>
          <a:ln/>
        </p:spPr>
      </p:sp>
      <p:sp>
        <p:nvSpPr>
          <p:cNvPr id="16" name="Shape 14"/>
          <p:cNvSpPr/>
          <p:nvPr/>
        </p:nvSpPr>
        <p:spPr>
          <a:xfrm>
            <a:off x="1595628" y="2798064"/>
            <a:ext cx="1426464" cy="0"/>
          </a:xfrm>
          <a:prstGeom prst="line">
            <a:avLst/>
          </a:prstGeom>
          <a:noFill/>
          <a:ln w="19050">
            <a:solidFill>
              <a:srgbClr val="F3740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02920" y="296265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更大规模集群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" y="3511296"/>
            <a:ext cx="32095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三机 → 六机 / 十机以上</a:t>
            </a:r>
            <a:endParaRPr lang="en-US" sz="1300" dirty="0"/>
          </a:p>
          <a:p>
            <a:pPr marL="127000" indent="-1270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去中心化协商的可扩展性</a:t>
            </a:r>
            <a:endParaRPr lang="en-US" sz="1300" dirty="0"/>
          </a:p>
          <a:p>
            <a:pPr marL="127000" indent="-1270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通信带宽的高效利用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1554480"/>
            <a:ext cx="36118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554480"/>
            <a:ext cx="3611880" cy="82296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21" name="Shape 19"/>
          <p:cNvSpPr/>
          <p:nvPr/>
        </p:nvSpPr>
        <p:spPr>
          <a:xfrm>
            <a:off x="4425696" y="1764792"/>
            <a:ext cx="3355848" cy="11155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5390388" y="2340864"/>
            <a:ext cx="237744" cy="310896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23" name="Shape 21"/>
          <p:cNvSpPr/>
          <p:nvPr/>
        </p:nvSpPr>
        <p:spPr>
          <a:xfrm>
            <a:off x="5682996" y="2157984"/>
            <a:ext cx="237744" cy="493776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24" name="Shape 22"/>
          <p:cNvSpPr/>
          <p:nvPr/>
        </p:nvSpPr>
        <p:spPr>
          <a:xfrm>
            <a:off x="5975604" y="2286000"/>
            <a:ext cx="237744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8212" y="2084832"/>
            <a:ext cx="237744" cy="56692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26" name="Shape 24"/>
          <p:cNvSpPr/>
          <p:nvPr/>
        </p:nvSpPr>
        <p:spPr>
          <a:xfrm>
            <a:off x="6560820" y="2322576"/>
            <a:ext cx="237744" cy="329184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27" name="Shape 25"/>
          <p:cNvSpPr/>
          <p:nvPr/>
        </p:nvSpPr>
        <p:spPr>
          <a:xfrm rot="10800000">
            <a:off x="6492240" y="1924812"/>
            <a:ext cx="173736" cy="173736"/>
          </a:xfrm>
          <a:prstGeom prst="triangle">
            <a:avLst/>
          </a:prstGeom>
          <a:solidFill>
            <a:srgbClr val="F37402"/>
          </a:solidFill>
          <a:ln/>
        </p:spPr>
      </p:sp>
      <p:sp>
        <p:nvSpPr>
          <p:cNvPr id="28" name="Shape 26"/>
          <p:cNvSpPr/>
          <p:nvPr/>
        </p:nvSpPr>
        <p:spPr>
          <a:xfrm>
            <a:off x="5234940" y="2432304"/>
            <a:ext cx="219456" cy="219456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0" y="296265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更复杂环境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498848" y="3511296"/>
            <a:ext cx="32095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多层建筑、植被遮挡、动态障碍</a:t>
            </a:r>
            <a:endParaRPr lang="en-US" sz="1300" dirty="0"/>
          </a:p>
          <a:p>
            <a:pPr marL="127000" indent="-1270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弱纹理与遮挡下的感知鲁棒性</a:t>
            </a:r>
            <a:endParaRPr lang="en-US" sz="1300" dirty="0"/>
          </a:p>
          <a:p>
            <a:pPr marL="127000" indent="-1270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重规划对突发变化的响应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92440" y="1554480"/>
            <a:ext cx="36118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1554480"/>
            <a:ext cx="3611880" cy="82296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33" name="Shape 31"/>
          <p:cNvSpPr/>
          <p:nvPr/>
        </p:nvSpPr>
        <p:spPr>
          <a:xfrm>
            <a:off x="8220456" y="1764792"/>
            <a:ext cx="3355848" cy="11155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4" name="Shape 32"/>
          <p:cNvSpPr/>
          <p:nvPr/>
        </p:nvSpPr>
        <p:spPr>
          <a:xfrm>
            <a:off x="8837676" y="2048256"/>
            <a:ext cx="548640" cy="548640"/>
          </a:xfrm>
          <a:prstGeom prst="ellipse">
            <a:avLst/>
          </a:prstGeom>
          <a:solidFill>
            <a:srgbClr val="024178"/>
          </a:solidFill>
          <a:ln/>
        </p:spPr>
      </p:sp>
      <p:sp>
        <p:nvSpPr>
          <p:cNvPr id="35" name="Shape 33"/>
          <p:cNvSpPr/>
          <p:nvPr/>
        </p:nvSpPr>
        <p:spPr>
          <a:xfrm>
            <a:off x="8983980" y="2194560"/>
            <a:ext cx="256032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956548" y="2359152"/>
            <a:ext cx="310896" cy="13716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9624060" y="2048256"/>
            <a:ext cx="548640" cy="548640"/>
          </a:xfrm>
          <a:prstGeom prst="ellipse">
            <a:avLst/>
          </a:prstGeom>
          <a:solidFill>
            <a:srgbClr val="F37402"/>
          </a:solidFill>
          <a:ln/>
        </p:spPr>
      </p:sp>
      <p:sp>
        <p:nvSpPr>
          <p:cNvPr id="38" name="Shape 36"/>
          <p:cNvSpPr/>
          <p:nvPr/>
        </p:nvSpPr>
        <p:spPr>
          <a:xfrm>
            <a:off x="9857232" y="2167128"/>
            <a:ext cx="8229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9742932" y="2281428"/>
            <a:ext cx="310896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410444" y="2048256"/>
            <a:ext cx="548640" cy="54864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41" name="Shape 39"/>
          <p:cNvSpPr/>
          <p:nvPr/>
        </p:nvSpPr>
        <p:spPr>
          <a:xfrm>
            <a:off x="10538460" y="2212848"/>
            <a:ext cx="29260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29900" y="2368296"/>
            <a:ext cx="109728" cy="10058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3" name="Text 41"/>
          <p:cNvSpPr/>
          <p:nvPr/>
        </p:nvSpPr>
        <p:spPr>
          <a:xfrm>
            <a:off x="8092440" y="296265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多领域推广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293608" y="3511296"/>
            <a:ext cx="32095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军事安防：边境安防、区域侦察</a:t>
            </a:r>
            <a:endParaRPr lang="en-US" sz="1300" dirty="0"/>
          </a:p>
          <a:p>
            <a:pPr marL="127000" indent="-1270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民用：灾后搜救、设施巡检</a:t>
            </a:r>
            <a:endParaRPr lang="en-US" sz="1300" dirty="0"/>
          </a:p>
          <a:p>
            <a:pPr marL="127000" indent="-1270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产业：低空经济、物流、智慧城市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02920" y="5522976"/>
            <a:ext cx="11183112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572414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完成独立实机测量与国产化材料闭合后，可评价系统在具体应用中的收益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539728" y="6327648"/>
            <a:ext cx="146304" cy="14630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48" name="Shape 46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49" name="Text 47"/>
          <p:cNvSpPr/>
          <p:nvPr/>
        </p:nvSpPr>
        <p:spPr>
          <a:xfrm>
            <a:off x="11612880" y="6382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89520" cy="566928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0"/>
            <a:ext cx="4599432" cy="237744"/>
          </a:xfrm>
          <a:prstGeom prst="rect">
            <a:avLst/>
          </a:prstGeom>
          <a:solidFill>
            <a:srgbClr val="F37402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37744"/>
            <a:ext cx="502920" cy="329184"/>
          </a:xfrm>
          <a:prstGeom prst="rtTriangle">
            <a:avLst/>
          </a:prstGeom>
          <a:solidFill>
            <a:srgbClr val="F3740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24178"/>
          </a:solidFill>
          <a:ln/>
        </p:spPr>
      </p:sp>
      <p:sp>
        <p:nvSpPr>
          <p:cNvPr id="6" name="Shape 4"/>
          <p:cNvSpPr/>
          <p:nvPr/>
        </p:nvSpPr>
        <p:spPr>
          <a:xfrm>
            <a:off x="7982712" y="6409944"/>
            <a:ext cx="4206240" cy="1371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感谢赛事组委会与各位评委老师！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24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基于国产算力的无人机具身智能实时感知与决策系统实现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恳请各位专家批评指正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基于国产算力的无人机具身智能实时感知与决策系统</dc:title>
  <dc:subject>PptxGenJS Presentation</dc:subject>
  <dc:creator>天目智航</dc:creator>
  <cp:lastModifiedBy>天目智航</cp:lastModifiedBy>
  <cp:revision>1</cp:revision>
  <dcterms:created xsi:type="dcterms:W3CDTF">2026-09-12T12:33:23Z</dcterms:created>
  <dcterms:modified xsi:type="dcterms:W3CDTF">2026-09-12T12:33:23Z</dcterms:modified>
</cp:coreProperties>
</file>